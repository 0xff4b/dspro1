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2F2F2"/>
                </a:solidFill>
                <a:latin typeface="Calibri"/>
              </a:rPr>
              <a:t>PREDICTING APARTMENT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2F2F2"/>
                </a:solidFill>
                <a:latin typeface="Calibri"/>
              </a:rPr>
              <a:t>RENTAL PRICES IN SWITZERLAND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BBBBE"/>
                </a:solidFill>
                <a:latin typeface="Calibri"/>
              </a:rPr>
              <a:t>A supervised machine-learning approach for the Swiss cold-rent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434840"/>
            <a:ext cx="457200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CCCCF"/>
                </a:solidFill>
                <a:latin typeface="Calibri"/>
              </a:rPr>
              <a:t>DSPRO1 Final Presentation  |  Spring 2026 (FS26)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CCCCF"/>
                </a:solidFill>
                <a:latin typeface="Calibri"/>
              </a:rPr>
              <a:t>Team 8  |  Elias Martinelli  |  Timo Schlumpf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Supervisor: Elena Nazarenko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20 minutes  |  six chapters  |  pitch + technical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777240" cy="77724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2F2F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4475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470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Why is a fair rent so hard to judge?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777240" cy="77724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2F2F2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44475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Data and scraping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470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From 25'002 URLs to a clean modelling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777240" cy="77724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2F2F2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0779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Modelling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310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Six models on the same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777240" cy="77724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2F2F2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90779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Results and error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310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What works, what doesn't, and why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777240" cy="77724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2F2F2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70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73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Streamlit app with address lookup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389120"/>
            <a:ext cx="777240" cy="77724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2F2F2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370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Conclusions and 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773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Where we landed and 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E30613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2F2F2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BBBBE"/>
                </a:solidFill>
                <a:latin typeface="Calibri"/>
              </a:rPr>
              <a:t>Why a fair Swiss rent is hard to judge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4206240" cy="402336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CCCCE"/>
                </a:solidFill>
                <a:latin typeface="Calibri"/>
              </a:rPr>
              <a:t>You find this listing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2F2F2"/>
                </a:solidFill>
                <a:latin typeface="Calibri"/>
              </a:rPr>
              <a:t>3 rooms
80 m²
Zurich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2286000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30613"/>
                </a:solidFill>
                <a:latin typeface="Calibri"/>
              </a:rPr>
              <a:t>CHF 2'400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CCCCE"/>
                </a:solidFill>
                <a:latin typeface="Calibri"/>
              </a:rPr>
              <a:t>Is this fair?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5544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Calibri"/>
              </a:rPr>
              <a:t>Why is this hard to judge?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48840"/>
            <a:ext cx="6583680" cy="8686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2148840"/>
            <a:ext cx="109728" cy="86868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22199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Location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603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The same apartment can cost twice as much across cantons.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3108960"/>
            <a:ext cx="6583680" cy="8686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3108960"/>
            <a:ext cx="109728" cy="86868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318211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Many interacting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52044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Living area, rooms, floor, year built, amenities, public transport 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4069080"/>
            <a:ext cx="6583680" cy="8686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4069080"/>
            <a:ext cx="109728" cy="86868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414223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No transparent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48056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There is no public per-listing reference model on the market.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23560"/>
            <a:ext cx="11155680" cy="54864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332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2F2F2"/>
                </a:solidFill>
                <a:latin typeface="Calibri"/>
              </a:rPr>
              <a:t>Our goal: build a supervised ML model that predicts fair rent from listing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Why does it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Three stakeholder groups benefit from a transparent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611880" cy="38404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611880" cy="457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2F2"/>
                </a:solidFill>
                <a:latin typeface="Calibri"/>
              </a:rPr>
              <a:t>Tenants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3063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Spot overpriced listings before signing the contract; budget realistic rent ranges before moving.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611880" cy="38404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6118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2F2"/>
                </a:solidFill>
                <a:latin typeface="Calibri"/>
              </a:rPr>
              <a:t>Landlords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3063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Set a market-based price for vacancies; calibrate offers without paying for a private appraisal.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37360"/>
            <a:ext cx="3611880" cy="38404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737360"/>
            <a:ext cx="3611880" cy="457200"/>
          </a:xfrm>
          <a:prstGeom prst="rect">
            <a:avLst/>
          </a:prstGeom>
          <a:solidFill>
            <a:srgbClr val="3EA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288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2F2"/>
                </a:solidFill>
                <a:latin typeface="Calibri"/>
              </a:rPr>
              <a:t>Society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063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A transparent reference value supports the discussion around rent affordability and regional fairness.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10058400" cy="32918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828800"/>
            <a:ext cx="128016" cy="3291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9509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222222"/>
                </a:solidFill>
                <a:latin typeface="Calibri"/>
              </a:rPr>
              <a:t>"Location-related variables combined with structural apartment
features contain sufficient signal to predict monthly rental
prices in Switzerland with practically useful accuracy, and a
Random Forest Regressor will outperform a Linear Regression
model in doing 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1772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Source: project proposal, mid-term presentation slide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222222"/>
                </a:solidFill>
                <a:latin typeface="Calibri"/>
              </a:rPr>
              <a:t>We test this with a baseline, a linear benchmark, and four tree-based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E30613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2F2F2"/>
                </a:solidFill>
                <a:latin typeface="Calibri"/>
              </a:rPr>
              <a:t>DATA AND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BBBBE"/>
                </a:solidFill>
                <a:latin typeface="Calibri"/>
              </a:rPr>
              <a:t>From 25'002 URLs to about 4'500 modelling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Data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Rentumo Rental Listings Switzerland v1.0  |  13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402336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CCCCE"/>
                </a:solidFill>
                <a:latin typeface="Calibri"/>
              </a:rPr>
              <a:t>Single-shot scrape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2F2F2"/>
                </a:solidFill>
                <a:latin typeface="Calibri"/>
              </a:rPr>
              <a:t>25'002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CCCCE"/>
                </a:solidFill>
                <a:latin typeface="Calibri"/>
              </a:rPr>
              <a:t>URLs identified on rentumo.ch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80"/>
            <a:ext cx="1371600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30613"/>
                </a:solidFill>
                <a:latin typeface="Calibri"/>
              </a:rPr>
              <a:t>9'994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CCCCE"/>
                </a:solidFill>
                <a:latin typeface="Calibri"/>
              </a:rPr>
              <a:t>listings successfully extracted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AAAAAE"/>
                </a:solidFill>
                <a:latin typeface="Calibri"/>
              </a:rPr>
              <a:t>The remaining 15'008 pages are empty placeholder URLs.
This is a property of the platform, not a scraping defect.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Why Rentumo, not Comparis?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40280"/>
            <a:ext cx="56692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Comparis requires written authorisation for scraping.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Comparis access cap is around 300 records, not enough for ML.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Rentumo was contacted by e-mail before scraping; no reply was received.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Data is used only for non-commercial academic purposes (HSLU DSPRO1).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754880"/>
            <a:ext cx="5486400" cy="82296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81888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Single-platform 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74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All listings come from rentumo.ch. Adding a second platform is the most
obvious next step (see future work).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Scraper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ScrapeGoat: custom Rust library, two-phase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86400" cy="219456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28016" cy="219456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Calibri"/>
              </a:rPr>
              <a:t>Phase 1: Listing index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50292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30613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750 paginated pages /mietobjekte?page={1..750}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30613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CSS selectors on #listings container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30613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Extracts: rooms, area, cold rent, slug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30613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INSERT ... ON CONFLICT (slug) DO NOTHING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486400" cy="219456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128016" cy="2194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Calibri"/>
              </a:rPr>
              <a:t>Phase 2: Detail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50292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One call per slug from the database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Adds address, Nebenkosten, Kaution, description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JSON-LD Apartment schema + Datum verfügbar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1F4E79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INSERT ... ON CONFLICT (listing_id) DO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Calibri"/>
              </a:rPr>
              <a:t>Orchestration: Mgt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303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3EA06F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Up to 10 concurrent in-flight HTTP requests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EA06F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Channel-based feedback: new request only after one completes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EA06F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Random User-Agent per request from preloaded list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EA06F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Optional HTTP proxies via plain-text file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EA06F"/>
                </a:solidFill>
                <a:latin typeface="Calibri"/>
              </a:rPr>
              <a:t>■  </a:t>
            </a:r>
            <a:r>
              <a:rPr sz="1200">
                <a:solidFill>
                  <a:srgbClr val="222222"/>
                </a:solidFill>
                <a:latin typeface="Calibri"/>
              </a:rPr>
              <a:t>Both phases idempotent: safe to resume or replay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572000"/>
            <a:ext cx="5303520" cy="164592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CCCCE"/>
                </a:solidFill>
                <a:latin typeface="Calibri"/>
              </a:rPr>
              <a:t>Bottom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749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Bounded server load, full reproducibility,
resumable on failure. The scraper itself is a
project artefact, not a one-off script.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Data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From an address to a feature row that the model can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287" y="2103120"/>
            <a:ext cx="2103120" cy="28346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287" y="2103120"/>
            <a:ext cx="2103120" cy="4572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" y="218541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2697480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Listing address from rentumo.ch detail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4551" y="329184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8287" y="2103120"/>
            <a:ext cx="2103120" cy="28346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58287" y="2103120"/>
            <a:ext cx="2103120" cy="457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5447" y="218541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Geocode + EGID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1167" y="2697480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GeoAdmin SearchServer returns LV95 coordinates and the EGID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0551" y="329184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4287" y="2103120"/>
            <a:ext cx="2103120" cy="28346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4287" y="2103120"/>
            <a:ext cx="21031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1447" y="218541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GWR (BFS)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7167" y="2697480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Building data: year_built, ganzwhg, garea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6551" y="329184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Calibri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0287" y="2103120"/>
            <a:ext cx="2103120" cy="28346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0287" y="2103120"/>
            <a:ext cx="2103120" cy="457200"/>
          </a:xfrm>
          <a:prstGeom prst="rect">
            <a:avLst/>
          </a:prstGeom>
          <a:solidFill>
            <a:srgbClr val="3EA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7447" y="218541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swisstopo / GeoAdmin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3167" y="2697480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elevation, oev_score, solar_class (1-5), population (hectare grid)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2551" y="329184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Calibri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16287" y="2103120"/>
            <a:ext cx="2103120" cy="28346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6287" y="2103120"/>
            <a:ext cx="2103120" cy="457200"/>
          </a:xfrm>
          <a:prstGeom prst="rect">
            <a:avLst/>
          </a:prstGeom>
          <a:solidFill>
            <a:srgbClr val="E8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3447" y="218541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Modelling 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9167" y="2697480"/>
            <a:ext cx="1737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12 columns ready for the train/eval 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492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All enrichment is point-in-time on 13 April 2026. The pipeline is documented end-to-end in final_records.ipynb.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From raw URLs to a usable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Five filters reduce 25'002 candidates to about 4'500 modelling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64008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URLs on rentumo.ch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50040" y="181051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41418"/>
                </a:solidFill>
                <a:latin typeface="Calibri"/>
              </a:rPr>
              <a:t>25'002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42032"/>
            <a:ext cx="6583680" cy="640080"/>
          </a:xfrm>
          <a:prstGeom prst="round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Successfully extracted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61518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A2A2F"/>
                </a:solidFill>
                <a:latin typeface="Calibri"/>
              </a:rPr>
              <a:t>9'994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46703"/>
            <a:ext cx="4572000" cy="64008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3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After mandatory-field filter (address, price, area, rooms)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419855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30613"/>
                </a:solidFill>
                <a:latin typeface="Calibri"/>
              </a:rPr>
              <a:t>~5'000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51375"/>
            <a:ext cx="411480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88535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After GWR enrichment join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224527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Calibri"/>
              </a:rPr>
              <a:t>~4'700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56048"/>
            <a:ext cx="3931920" cy="640080"/>
          </a:xfrm>
          <a:prstGeom prst="roundRect">
            <a:avLst/>
          </a:prstGeom>
          <a:solidFill>
            <a:srgbClr val="3EA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932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Final modelling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50292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EA06F"/>
                </a:solidFill>
                <a:latin typeface="Calibri"/>
              </a:rPr>
              <a:t>~4'500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Each step is documented in final_records.ipynb (cumulative_filters.csv).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E30613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2F2F2"/>
                </a:solidFill>
                <a:latin typeface="Calibri"/>
              </a:rPr>
              <a:t>MODELLING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BBBBE"/>
                </a:solidFill>
                <a:latin typeface="Calibri"/>
              </a:rPr>
              <a:t>Six models on the same evaluation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Modelling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Six models, one shared split, same 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pic>
        <p:nvPicPr>
          <p:cNvPr id="7" name="Picture 6" descr="geo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493776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7103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KMeans geo-clusters fitted on train_df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6916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Model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103120"/>
            <a:ext cx="5852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DummyRegressor (median): lower bound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Ridge with StandardScaler: linear benchmark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RandomForestRegressor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GradientBoostingRegressor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XGBoost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LightGBM (best single model)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StackingRegressor with Ridge meta-learner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5029200"/>
            <a:ext cx="5943600" cy="91440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CCCCE"/>
                </a:solidFill>
                <a:latin typeface="Calibri"/>
              </a:rPr>
              <a:t>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44068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building_age, area_per_room, land_area_per_apartment, geo_cluster, knn_price_mean, knn_price_median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Single split with safety nets: cross-validation and a held-out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Hold-out test split (60/20/20)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694944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2057400"/>
            <a:ext cx="2194560" cy="640080"/>
          </a:xfrm>
          <a:prstGeom prst="rect">
            <a:avLst/>
          </a:prstGeom>
          <a:solidFill>
            <a:srgbClr val="E8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0" y="2057400"/>
            <a:ext cx="2011680" cy="640080"/>
          </a:xfrm>
          <a:prstGeom prst="rect">
            <a:avLst/>
          </a:prstGeom>
          <a:solidFill>
            <a:srgbClr val="3EA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Train 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488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Calibri"/>
              </a:rPr>
              <a:t>Val 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148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2F2F2"/>
                </a:solidFill>
                <a:latin typeface="Calibri"/>
              </a:rPr>
              <a:t>Test 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Test is touched only once, at the very 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3657600" cy="105156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128016" cy="105156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MAE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Average absolute error in CHF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520440"/>
            <a:ext cx="3657600" cy="105156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520440"/>
            <a:ext cx="128016" cy="105156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611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RMSE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97764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Quadratic error, penalises large misses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520440"/>
            <a:ext cx="3657600" cy="105156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520440"/>
            <a:ext cx="128016" cy="105156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3611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R²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97764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Variance explained by the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3657600" cy="105156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54880"/>
            <a:ext cx="128016" cy="105156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MedAE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Robust median absolute error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754880"/>
            <a:ext cx="3657600" cy="105156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4754880"/>
            <a:ext cx="128016" cy="105156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CV std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21208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Stability across folds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754880"/>
            <a:ext cx="3657600" cy="105156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4754880"/>
            <a:ext cx="128016" cy="105156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Bootstrap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21208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Significance test for model differences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E30613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2F2F2"/>
                </a:solidFill>
                <a:latin typeface="Calibri"/>
              </a:rPr>
              <a:t>RESULTS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BBBBE"/>
                </a:solidFill>
                <a:latin typeface="Calibri"/>
              </a:rPr>
              <a:t>What works, what does not,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Baseline: mean-prediction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Predicts the same training-set mean for every apartment, regardless of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657600" cy="24688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E30613"/>
                </a:solidFill>
                <a:latin typeface="Calibri"/>
              </a:rPr>
              <a:t>CHF 612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Average prediction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657600" cy="24688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0240"/>
            <a:ext cx="36576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933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060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F4E79"/>
                </a:solidFill>
                <a:latin typeface="Calibri"/>
              </a:rPr>
              <a:t>CHF 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6576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Penalises large errors more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920240"/>
            <a:ext cx="3657600" cy="24688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920240"/>
            <a:ext cx="3657600" cy="457200"/>
          </a:xfrm>
          <a:prstGeom prst="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933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41418"/>
                </a:solidFill>
                <a:latin typeface="Calibri"/>
              </a:rPr>
              <a:t>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No variance explained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155680" cy="91440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Any serious model must clearly beat this threshold.
We set RMSE &lt; 800 CHF as our minimum success criterion.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All models on the same split, FEATURES_ENGINEERED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pic>
        <p:nvPicPr>
          <p:cNvPr id="7" name="Picture 6" descr="rmse_train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85800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7103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Train vs Eval RMSE per model (Notebook Ch. 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Calibri"/>
              </a:rPr>
              <a:t>RMSE Eval (CHF)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2194560"/>
            <a:ext cx="4206240" cy="43891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2677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Calibri"/>
              </a:rPr>
              <a:t>LightGBM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2677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F2F2F2"/>
                </a:solidFill>
                <a:latin typeface="Calibri"/>
              </a:rPr>
              <a:t>399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697480"/>
            <a:ext cx="4206240" cy="438912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770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27706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22222"/>
                </a:solidFill>
                <a:latin typeface="Calibri"/>
              </a:rPr>
              <a:t>421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200400"/>
            <a:ext cx="4206240" cy="438912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2735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GradientBoosting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32735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22222"/>
                </a:solidFill>
                <a:latin typeface="Calibri"/>
              </a:rPr>
              <a:t>425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703320"/>
            <a:ext cx="4206240" cy="438912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776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RandomForest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7764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22222"/>
                </a:solidFill>
                <a:latin typeface="Calibri"/>
              </a:rPr>
              <a:t>425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4206240"/>
            <a:ext cx="4206240" cy="438912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42793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Ridge (linear)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42793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22222"/>
                </a:solidFill>
                <a:latin typeface="Calibri"/>
              </a:rPr>
              <a:t>560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4709160"/>
            <a:ext cx="4206240" cy="438912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4782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Dummy (mean)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47823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22222"/>
                </a:solidFill>
                <a:latin typeface="Calibri"/>
              </a:rPr>
              <a:t>847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3492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After adding KNN-distance features, LightGBM reaches RMSE 393 / R² 0.751.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Hypothesis: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Tree-based models clearly outperform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2976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Mid-term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141418"/>
                </a:solidFill>
                <a:latin typeface="Calibri"/>
              </a:rPr>
              <a:t>CHF 847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RMSE on evaluation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R² = 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No variance explained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47472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 i="0">
                <a:solidFill>
                  <a:srgbClr val="E30613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691640"/>
            <a:ext cx="5349240" cy="429768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CCCCE"/>
                </a:solidFill>
                <a:latin typeface="Calibri"/>
              </a:rPr>
              <a:t>LightGBM + KNN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3172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E30613"/>
                </a:solidFill>
                <a:latin typeface="Calibri"/>
              </a:rPr>
              <a:t>CHF 393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290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AAAE"/>
                </a:solidFill>
                <a:latin typeface="Calibri"/>
              </a:rPr>
              <a:t>RMSE on evaluation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2F2"/>
                </a:solidFill>
                <a:latin typeface="Calibri"/>
              </a:rPr>
              <a:t>R² = 0.751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3EA06F"/>
                </a:solidFill>
                <a:latin typeface="Calibri"/>
              </a:rPr>
              <a:t>More than 50% improvement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Actual vs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Best model: LightGBM with KNN-distance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pic>
        <p:nvPicPr>
          <p:cNvPr id="7" name="Picture 6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4008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3367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Points should cluster around the red diagonal.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What the scatter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9456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E30613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Strong correlation between actual and predicted price.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30613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Cluster around the diagonal up to ~3'500 CHF.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30613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Tail-end apartments (luxury) show larger spread.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30613"/>
                </a:solidFill>
                <a:latin typeface="Calibri"/>
              </a:rPr>
              <a:t>■  </a:t>
            </a:r>
            <a:r>
              <a:rPr sz="1400">
                <a:solidFill>
                  <a:srgbClr val="222222"/>
                </a:solidFill>
                <a:latin typeface="Calibri"/>
              </a:rPr>
              <a:t>No systematic bias in the central range.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Residual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Residual = actual rent minus predicted 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pic>
        <p:nvPicPr>
          <p:cNvPr id="7" name="Picture 6" descr="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85800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7103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Residual scatter + histogram.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94560"/>
            <a:ext cx="4206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Funnel shape: errors grow with predicted price.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Distribution is heavier-tailed than a normal.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Shapiro-Wilk test rejects normality.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Confirms heteroscedastic, right-skewed errors.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Error per price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 most actionable finding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377440" cy="6400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Cheap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194560"/>
            <a:ext cx="2798064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744" y="23317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CHF 216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2377440" cy="6400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821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Medium-low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017520"/>
            <a:ext cx="2340864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544" y="3154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CHF 176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2377440" cy="6400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050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Medium-high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840480"/>
            <a:ext cx="2889504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4184" y="39776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CHF 221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2377440" cy="6400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28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Expensive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663440"/>
            <a:ext cx="5724144" cy="64008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8824" y="48006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CHF 445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103120"/>
            <a:ext cx="3108960" cy="402336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240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CCCCE"/>
                </a:solidFill>
                <a:latin typeface="Calibri"/>
              </a:rPr>
              <a:t>Why?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6060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Expensive listings are underrepresented in the training 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611880"/>
            <a:ext cx="2743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And many of their price drivers (lake view, penthouse, floor, finish) are not in our features.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Errors on the top quartile are roughly twice as large as in the other bands.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Four methods agree: location and area carry the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pic>
        <p:nvPicPr>
          <p:cNvPr id="7" name="Picture 6" descr="feature_import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8580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5391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RF impurity, LightGBM splits, permutation importance and SHAP.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Top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94560"/>
            <a:ext cx="4206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area: dominant predictor across all methods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knn_price_mean / knn_price_median: location proxy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east, north: encode the location premium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30613"/>
                </a:solidFill>
                <a:latin typeface="Calibri"/>
              </a:rPr>
              <a:t>■  </a:t>
            </a:r>
            <a:r>
              <a:rPr sz="1300">
                <a:solidFill>
                  <a:srgbClr val="222222"/>
                </a:solidFill>
                <a:latin typeface="Calibri"/>
              </a:rPr>
              <a:t>area_per_room beats raw rooms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5029200"/>
            <a:ext cx="4114800" cy="109728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51206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Spearman rank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4406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EA06F"/>
                </a:solidFill>
                <a:latin typeface="Calibri"/>
              </a:rPr>
              <a:t>&gt; 0.85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8064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across all four methods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E30613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2F2F2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BBBBE"/>
                </a:solidFill>
                <a:latin typeface="Calibri"/>
              </a:rPr>
              <a:t>Streamlit app with address lookup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23 /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Demo: Streamlit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End-to-end pipeline behind one address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Live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8640" cy="50292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860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Enter the apartment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548640" cy="50292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529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803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Look up EGID and coordinates (GeoAdmin)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548640" cy="50292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472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747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Fetch GWR details and dwellings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548640" cy="50292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4164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690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Pick the right apartment from the dropdown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548640" cy="50292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36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6634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Enrich with swisstopo geo-data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548640" cy="502920"/>
          </a:xfrm>
          <a:prstGeom prst="round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303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F2F2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RentPredictor.predict(...)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691640"/>
            <a:ext cx="5349240" cy="4297680"/>
          </a:xfrm>
          <a:prstGeom prst="roundRect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CCCCE"/>
                </a:solidFill>
                <a:latin typeface="Calibri"/>
              </a:rPr>
              <a:t>Estimated rent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33172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E30613"/>
                </a:solidFill>
                <a:latin typeface="Calibri"/>
              </a:rPr>
              <a:t>CHF 1'987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611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CCCCE"/>
                </a:solidFill>
                <a:latin typeface="Calibri"/>
              </a:rPr>
              <a:t>for: 80 m², 3 rooms, 8002 Zürich, EGID 12345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4114800"/>
            <a:ext cx="1371600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251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Includes auto-filled GWR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617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2F2F2"/>
                </a:solidFill>
                <a:latin typeface="Calibri"/>
              </a:rPr>
              <a:t>Editable before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349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AAAAE"/>
                </a:solidFill>
                <a:latin typeface="Calibri"/>
              </a:rPr>
              <a:t>Disclaimer: advisory tool, not legally binding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64008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E30613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2F2F2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BBBBE"/>
                </a:solidFill>
                <a:latin typeface="Calibri"/>
              </a:rPr>
              <a:t>Limitations, next steps, take-aways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25 / 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57600" cy="19202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657600" cy="411480"/>
          </a:xfrm>
          <a:prstGeom prst="rect">
            <a:avLst/>
          </a:prstGeom>
          <a:solidFill>
            <a:srgbClr val="E8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Snapshot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One scrape on 13 April 2026. Market shifts are not reflected.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657600" cy="19202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657600" cy="411480"/>
          </a:xfrm>
          <a:prstGeom prst="rect">
            <a:avLst/>
          </a:prstGeom>
          <a:solidFill>
            <a:srgbClr val="E8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Urban coverage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Zurich, Geneva, Basel are overrepresented; rural cantons are thin.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83080"/>
            <a:ext cx="3657600" cy="19202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3657600" cy="411480"/>
          </a:xfrm>
          <a:prstGeom prst="rect">
            <a:avLst/>
          </a:prstGeom>
          <a:solidFill>
            <a:srgbClr val="E8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Expensive apartments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Top quartile MAE is roughly twice the rest. Luxury attributes are missing.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657600" cy="19202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3657600" cy="411480"/>
          </a:xfrm>
          <a:prstGeom prst="rect">
            <a:avLst/>
          </a:prstGeom>
          <a:solidFill>
            <a:srgbClr val="E8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Single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All data from rentumo.ch. Adding a second source is the obvious next step.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023360"/>
            <a:ext cx="3657600" cy="19202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023360"/>
            <a:ext cx="3657600" cy="411480"/>
          </a:xfrm>
          <a:prstGeom prst="rect">
            <a:avLst/>
          </a:prstGeom>
          <a:solidFill>
            <a:srgbClr val="E8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069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Local-only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Streamlit runs locally; no hosting in DSPRO1 scope.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23360"/>
            <a:ext cx="3657600" cy="19202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023360"/>
            <a:ext cx="3657600" cy="411480"/>
          </a:xfrm>
          <a:prstGeom prst="rect">
            <a:avLst/>
          </a:prstGeom>
          <a:solidFill>
            <a:srgbClr val="E8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069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No textual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2628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Description field is stored but not yet used for feature extraction.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Future work, in priority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Each step targets a specific limitation from the previous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DSPRO1 FS26  |  Team 8  |  Predicting Apartment Rental Prices in Switzerland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155680" cy="10058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914400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2F2F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830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Calibri"/>
              </a:rPr>
              <a:t>Text features from descriptions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488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Extract balcony, parking, renovation year, floor, view from the existing description field. Likely the highest-impact lever for the expensive band.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11155680" cy="10058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914400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2F2F2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260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Calibri"/>
              </a:rPr>
              <a:t>Second rental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918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Pull homegate.ch or immoscout24.ch listings. Reduces urban bias and roughly doubles the training 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11155680" cy="10058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77639"/>
            <a:ext cx="914400" cy="1005840"/>
          </a:xfrm>
          <a:prstGeom prst="rect">
            <a:avLst/>
          </a:prstGeom>
          <a:solidFill>
            <a:srgbClr val="3EA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2F2F2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69079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Calibri"/>
              </a:rPr>
              <a:t>Prediction intervals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34839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Move from point predictions to CHF X ± Y using conformal prediction (MAPIE). Honest and easy to read.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1155680" cy="1005840"/>
          </a:xfrm>
          <a:prstGeom prst="round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914400" cy="1005840"/>
          </a:xfrm>
          <a:prstGeom prst="rect">
            <a:avLst/>
          </a:prstGeom>
          <a:solidFill>
            <a:srgbClr val="E8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2F2F2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2120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Calibri"/>
              </a:rPr>
              <a:t>Lightweight hosting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5778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Deploy the Streamlit demo on Streamlit Cloud or Render. Natural first deliverable for DSPRO2.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alibri"/>
              </a:rPr>
              <a:t>What we take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914400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30613"/>
                </a:solidFill>
                <a:latin typeface="Calibri"/>
              </a:rPr>
              <a:t>&gt;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RMSE reduction vs the mid-term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30613"/>
                </a:solidFill>
                <a:latin typeface="Calibri"/>
              </a:rPr>
              <a:t>0.751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60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R² on the held-out evaluation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30613"/>
                </a:solidFill>
                <a:latin typeface="Calibri"/>
              </a:rPr>
              <a:t>CHF 393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average RMSE of the best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2461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30613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figures generated from the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CCCCE"/>
                </a:solidFill>
                <a:latin typeface="Calibri"/>
              </a:rPr>
              <a:t>Tree-based models clearly beat linear regression. The hypothesis is confirmed.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CCCCE"/>
                </a:solidFill>
                <a:latin typeface="Calibri"/>
              </a:rPr>
              <a:t>The expensive-apartment gap is the most promising next target.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2F2F2"/>
                </a:solidFill>
                <a:latin typeface="Calibri"/>
              </a:rPr>
              <a:t>Thank you for your attention.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017520"/>
            <a:ext cx="640080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BBBBBE"/>
                </a:solidFill>
                <a:latin typeface="Calibri"/>
              </a:rPr>
              <a:t>Questions and feedback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2F2"/>
                </a:solidFill>
                <a:latin typeface="Calibri"/>
              </a:rPr>
              <a:t>Team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Elias Martinelli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Timo Schlumpf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389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F2F2"/>
                </a:solidFill>
                <a:latin typeface="Calibri"/>
              </a:rPr>
              <a:t>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754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  <a:latin typeface="Calibri"/>
              </a:rPr>
              <a:t>Elena Nazarenko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212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BBBBE"/>
                </a:solidFill>
                <a:latin typeface="Calibri"/>
              </a:rP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486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30613"/>
                </a:solidFill>
                <a:latin typeface="Calibri"/>
              </a:rPr>
              <a:t>github.com/wadafacc/dspro1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